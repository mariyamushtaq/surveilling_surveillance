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0" r:id="rId9"/>
    <p:sldId id="269" r:id="rId10"/>
    <p:sldId id="27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1"/>
    <p:restoredTop sz="94606"/>
  </p:normalViewPr>
  <p:slideViewPr>
    <p:cSldViewPr snapToGrid="0" snapToObjects="1">
      <p:cViewPr>
        <p:scale>
          <a:sx n="182" d="100"/>
          <a:sy n="182" d="100"/>
        </p:scale>
        <p:origin x="-288" y="-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Surveilling Surveillance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C72B0"/>
                </a:solidFill>
                <a:latin typeface="Calibri"/>
              </a:defRPr>
            </a:pPr>
            <a:r>
              <a:t>Model Evaluation &amp; Threshold Analysis for Philadelphia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5720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Mariya Mushtaq  •  Thesis Update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Background: The Original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"Surveilling Surveillance" (Sheng et al., AIES 2021) — Stanford Policy Lab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Goal: Estimate prevalence of surveillance cameras across 16 cities using Street View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Model: Faster R-CNN (ResNet-50 + FPN), trained on ~3,155 GSV images (~1,696 cameras)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Two classes: Directed Camera &amp; Dome Camera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Their pipeline: Model detection → Human verification → Statistical correction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Reported performance: Precision = 0.58, Recall = 0.63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For Philadelphia: 348 verified detections / 100K images → 0.38 cameras/km (~2,600 estimated)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Key limitation they acknowledged: confuses cameras with street lamps, building structures, parking 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 Did: Three-Part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C72B0"/>
                </a:solidFill>
                <a:latin typeface="Calibri"/>
              </a:defRPr>
            </a:pPr>
            <a:r>
              <a:t>1. Threshold Analysis</a:t>
            </a:r>
            <a:br/>
            <a:r>
              <a:t>(500 Random Philly Images)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• Sampled 500 images from </a:t>
            </a:r>
            <a:r>
              <a:rPr dirty="0" err="1"/>
              <a:t>philly_meta.csv</a:t>
            </a:r>
            <a:br>
              <a:rPr dirty="0"/>
            </a:br>
            <a:r>
              <a:rPr dirty="0"/>
              <a:t>• Ran detector at threshold=0</a:t>
            </a:r>
            <a:br>
              <a:rPr dirty="0"/>
            </a:br>
            <a:r>
              <a:rPr dirty="0"/>
              <a:t>• 69 detections across 52 images</a:t>
            </a:r>
            <a:br>
              <a:rPr dirty="0"/>
            </a:br>
            <a:r>
              <a:rPr dirty="0"/>
              <a:t>• Analyzed score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38328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DD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D8452"/>
                </a:solidFill>
                <a:latin typeface="Calibri"/>
              </a:defRPr>
            </a:pPr>
            <a:r>
              <a:t>2. ALPR Ground Truth</a:t>
            </a:r>
            <a:br/>
            <a:r>
              <a:t>(99 Known Camera Locations)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Used dFlock ALPR locations as ground truth</a:t>
            </a:r>
            <a:br/>
            <a:r>
              <a:t>• Downloaded 4 headings × 99 locations = 396 images</a:t>
            </a:r>
            <a:br/>
            <a:r>
              <a:t>• Ran detector at threshold=0</a:t>
            </a:r>
            <a:br/>
            <a:r>
              <a:t>• 64 detections across 46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38328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DC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DC86D"/>
                </a:solidFill>
                <a:latin typeface="Calibri"/>
              </a:defRPr>
            </a:pPr>
            <a:r>
              <a:t>3. Manual Labeling</a:t>
            </a:r>
            <a:br/>
            <a:r>
              <a:t>(Both Datasets)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26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Labeled all detections as correct/incorrect</a:t>
            </a:r>
            <a:br/>
            <a:r>
              <a:t>• Built ROC and Precision-Recall curves</a:t>
            </a:r>
            <a:br/>
            <a:r>
              <a:t>• Compared to original paper's metrics</a:t>
            </a:r>
            <a:br/>
            <a:r>
              <a:t>• Assessed if threshold tuning can help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Score Distribution: 500-Image Philly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idence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03120"/>
            <a:ext cx="41148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69 total detections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52 images with detections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28 Directed, 41 Dome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Mean score: 0.453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Median score: 0.419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Bimodal distribution: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Cluster at 0.0–0.2 (noise</a:t>
            </a:r>
            <a:r>
              <a:rPr lang="en-US" dirty="0"/>
              <a:t>??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Spread across 0.3–1.0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365760"/>
            <a:ext cx="10817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Score Distribution: ALPR Ground Truth (99 Known Locations)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idence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396 images (99 locs × 4 headings)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46 images with detections (11.6%)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64 total detections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17 Directed, 47 Dome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Mean score: 0.388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Per-location breakdown: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• 38/99 locations detected (38.4%)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• 61 locations had ZERO detections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• Only 18 locations with score ≥ 0.5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Manual Labeling: What's Actually Correct?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Calibri"/>
              </a:defRPr>
            </a:pPr>
            <a:r>
              <a:t>500-Image Philly Sample (69 detections)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Labeled all 69 detections as correct/incorrect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29 correct (42%) — 40 incorrect </a:t>
            </a:r>
            <a:r>
              <a:rPr lang="en-US" dirty="0"/>
              <a:t>FP </a:t>
            </a:r>
            <a:r>
              <a:rPr dirty="0"/>
              <a:t>(58%)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Common false positives: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Roof structures shaped like cameras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TV antennas, street lights, leaves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Water pipes, poles, wire structures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Precision flat across score bands: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Even at 0.9+ confidence → 50% wrong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D8452"/>
                </a:solidFill>
                <a:latin typeface="Calibri"/>
              </a:defRPr>
            </a:pPr>
            <a:r>
              <a:t>ALPR Ground Truth (64 detections)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Labeled all 64 detections as correct/incorrect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35 correct (55%) — 29 incorrect (45%)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Common false positives: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Street lights (dome shape confusion)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• Airplanes, similar-shaped structures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Key observation: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Model misclassified type too </a:t>
            </a:r>
            <a:r>
              <a:rPr lang="en-US" dirty="0"/>
              <a:t>-- </a:t>
            </a:r>
            <a:r>
              <a:rPr dirty="0"/>
              <a:t>'correct' detections sometimes had</a:t>
            </a:r>
            <a:r>
              <a:rPr lang="en-US" dirty="0"/>
              <a:t> </a:t>
            </a:r>
            <a:r>
              <a:rPr dirty="0"/>
              <a:t>wrong class (dome vs directed)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Detection Examples: Surveillance Camera Data (Philly Street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39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 dirty="0"/>
              <a:t>D</a:t>
            </a:r>
            <a:r>
              <a:rPr dirty="0"/>
              <a:t>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26594"/>
            <a:ext cx="418424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effectLst/>
                <a:latin typeface="Menlo" panose="020B0609030804020204" pitchFamily="49" charset="0"/>
              </a:rPr>
              <a:t>"class": "Dome Camera",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"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class_id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": 1,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"score": 0.952299,</a:t>
            </a:r>
          </a:p>
          <a:p>
            <a:r>
              <a:rPr lang="en-US" sz="1200" dirty="0">
                <a:latin typeface="Menlo" panose="020B0609030804020204" pitchFamily="49" charset="0"/>
              </a:rPr>
              <a:t>"class": "Dome Camera",</a:t>
            </a:r>
          </a:p>
          <a:p>
            <a:r>
              <a:rPr lang="en-US" sz="1200" dirty="0">
                <a:latin typeface="Menlo" panose="020B0609030804020204" pitchFamily="49" charset="0"/>
              </a:rPr>
              <a:t>"</a:t>
            </a:r>
            <a:r>
              <a:rPr lang="en-US" sz="1200" dirty="0" err="1">
                <a:latin typeface="Menlo" panose="020B0609030804020204" pitchFamily="49" charset="0"/>
              </a:rPr>
              <a:t>class_id</a:t>
            </a:r>
            <a:r>
              <a:rPr lang="en-US" sz="1200" dirty="0">
                <a:latin typeface="Menlo" panose="020B0609030804020204" pitchFamily="49" charset="0"/>
              </a:rPr>
              <a:t>": 1,</a:t>
            </a:r>
          </a:p>
          <a:p>
            <a:r>
              <a:rPr lang="en-US" sz="1200" dirty="0">
                <a:latin typeface="Menlo" panose="020B0609030804020204" pitchFamily="49" charset="0"/>
              </a:rPr>
              <a:t>"score": 0.903165,</a:t>
            </a:r>
          </a:p>
          <a:p>
            <a:endParaRPr lang="en-US" sz="1200" b="0" dirty="0">
              <a:effectLst/>
              <a:latin typeface="Menlo" panose="020B0609030804020204" pitchFamily="49" charset="0"/>
            </a:endParaRPr>
          </a:p>
          <a:p>
            <a:pPr>
              <a:defRPr sz="1000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389225" y="1033452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 dirty="0"/>
              <a:t>Actual Image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F1B189-43CB-C9B3-803E-1B758EE8B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9" y="1313616"/>
            <a:ext cx="4553857" cy="3345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6FAB26-2D2D-FCB9-795F-5BEEDDDB1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510" y="1313616"/>
            <a:ext cx="4799910" cy="3345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Detection Examples: Surveillance Camera Data (Philly Street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39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 dirty="0"/>
              <a:t>Detection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726594"/>
            <a:ext cx="4184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</a:rPr>
              <a:t>"class": "Directed Camera",</a:t>
            </a:r>
          </a:p>
          <a:p>
            <a:r>
              <a:rPr lang="en-US" sz="1200" dirty="0">
                <a:latin typeface="Menlo" panose="020B0609030804020204" pitchFamily="49" charset="0"/>
              </a:rPr>
              <a:t>"</a:t>
            </a:r>
            <a:r>
              <a:rPr lang="en-US" sz="1200" dirty="0" err="1">
                <a:latin typeface="Menlo" panose="020B0609030804020204" pitchFamily="49" charset="0"/>
              </a:rPr>
              <a:t>class_id</a:t>
            </a:r>
            <a:r>
              <a:rPr lang="en-US" sz="1200" dirty="0">
                <a:latin typeface="Menlo" panose="020B0609030804020204" pitchFamily="49" charset="0"/>
              </a:rPr>
              <a:t>": 0,</a:t>
            </a:r>
          </a:p>
          <a:p>
            <a:r>
              <a:rPr lang="en-US" sz="1200" dirty="0">
                <a:latin typeface="Menlo" panose="020B0609030804020204" pitchFamily="49" charset="0"/>
              </a:rPr>
              <a:t>"score": 0.812302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9225" y="985841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 dirty="0"/>
              <a:t>Actual Image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F7038-E340-E035-1D69-7660DD6BE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465" y="1293618"/>
            <a:ext cx="4064000" cy="34329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239301-59C4-81D1-690D-44796BBBD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3618"/>
            <a:ext cx="4064000" cy="343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Detection Examples: ALPR Data (Street View at Known ALPR Locations)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39"/>
            <a:ext cx="912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lang="en-US" dirty="0"/>
              <a:t>Detection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096000" y="1005839"/>
            <a:ext cx="11557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lang="en-US" dirty="0"/>
              <a:t>Actual Image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E335CC-01EB-9566-82F6-98A63BA1E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13616"/>
            <a:ext cx="4064000" cy="31604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4DA4A6-61EF-0137-72C3-A490015A045F}"/>
              </a:ext>
            </a:extLst>
          </p:cNvPr>
          <p:cNvSpPr txBox="1"/>
          <p:nvPr/>
        </p:nvSpPr>
        <p:spPr>
          <a:xfrm>
            <a:off x="500742" y="4528721"/>
            <a:ext cx="3940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</a:rPr>
              <a:t>"class": "Directed Camera",</a:t>
            </a:r>
          </a:p>
          <a:p>
            <a:r>
              <a:rPr lang="en-US" sz="1200" dirty="0">
                <a:latin typeface="Menlo" panose="020B0609030804020204" pitchFamily="49" charset="0"/>
              </a:rPr>
              <a:t>"</a:t>
            </a:r>
            <a:r>
              <a:rPr lang="en-US" sz="1200" dirty="0" err="1">
                <a:latin typeface="Menlo" panose="020B0609030804020204" pitchFamily="49" charset="0"/>
              </a:rPr>
              <a:t>class_id</a:t>
            </a:r>
            <a:r>
              <a:rPr lang="en-US" sz="1200" dirty="0">
                <a:latin typeface="Menlo" panose="020B0609030804020204" pitchFamily="49" charset="0"/>
              </a:rPr>
              <a:t>": 0,</a:t>
            </a:r>
          </a:p>
          <a:p>
            <a:r>
              <a:rPr lang="en-US" sz="1200" dirty="0">
                <a:latin typeface="Menlo" panose="020B0609030804020204" pitchFamily="49" charset="0"/>
              </a:rPr>
              <a:t>"score": 0.969999,</a:t>
            </a:r>
          </a:p>
          <a:p>
            <a:r>
              <a:rPr lang="en-US" sz="1200" dirty="0">
                <a:latin typeface="Menlo" panose="020B0609030804020204" pitchFamily="49" charset="0"/>
              </a:rPr>
              <a:t>"class": "Dome Camera",</a:t>
            </a:r>
          </a:p>
          <a:p>
            <a:r>
              <a:rPr lang="en-US" sz="1200" dirty="0">
                <a:latin typeface="Menlo" panose="020B0609030804020204" pitchFamily="49" charset="0"/>
              </a:rPr>
              <a:t>"</a:t>
            </a:r>
            <a:r>
              <a:rPr lang="en-US" sz="1200" dirty="0" err="1">
                <a:latin typeface="Menlo" panose="020B0609030804020204" pitchFamily="49" charset="0"/>
              </a:rPr>
              <a:t>class_id</a:t>
            </a:r>
            <a:r>
              <a:rPr lang="en-US" sz="1200" dirty="0">
                <a:latin typeface="Menlo" panose="020B0609030804020204" pitchFamily="49" charset="0"/>
              </a:rPr>
              <a:t>": 1,</a:t>
            </a:r>
          </a:p>
          <a:p>
            <a:r>
              <a:rPr lang="en-US" sz="1200" dirty="0">
                <a:latin typeface="Menlo" panose="020B0609030804020204" pitchFamily="49" charset="0"/>
              </a:rPr>
              <a:t>"score": 0.199853</a:t>
            </a:r>
          </a:p>
          <a:p>
            <a:endParaRPr lang="en-US" b="0" dirty="0">
              <a:solidFill>
                <a:srgbClr val="EBC88D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5BB491-0795-E0E5-984C-7D7D4291B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485" y="1302466"/>
            <a:ext cx="4263572" cy="3226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Detection Examples: ALPR Data (Street View at Known ALPR Locations)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39"/>
            <a:ext cx="912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lang="en-US" dirty="0"/>
              <a:t>Detection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096000" y="1005839"/>
            <a:ext cx="11557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lang="en-US" dirty="0"/>
              <a:t>Actual Image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498B1-D1FB-F585-7194-93953326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43" y="1313616"/>
            <a:ext cx="4064000" cy="3846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BE08F3-A739-C4E5-D05B-6526C2925B9E}"/>
              </a:ext>
            </a:extLst>
          </p:cNvPr>
          <p:cNvSpPr txBox="1"/>
          <p:nvPr/>
        </p:nvSpPr>
        <p:spPr>
          <a:xfrm>
            <a:off x="602343" y="5359718"/>
            <a:ext cx="3817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</a:rPr>
              <a:t>"class": "Dome Camera",</a:t>
            </a:r>
          </a:p>
          <a:p>
            <a:r>
              <a:rPr lang="en-US" sz="1200" dirty="0">
                <a:latin typeface="Menlo" panose="020B0609030804020204" pitchFamily="49" charset="0"/>
              </a:rPr>
              <a:t>"</a:t>
            </a:r>
            <a:r>
              <a:rPr lang="en-US" sz="1200" dirty="0" err="1">
                <a:latin typeface="Menlo" panose="020B0609030804020204" pitchFamily="49" charset="0"/>
              </a:rPr>
              <a:t>class_id</a:t>
            </a:r>
            <a:r>
              <a:rPr lang="en-US" sz="1200" dirty="0">
                <a:latin typeface="Menlo" panose="020B0609030804020204" pitchFamily="49" charset="0"/>
              </a:rPr>
              <a:t>": 1,</a:t>
            </a:r>
          </a:p>
          <a:p>
            <a:r>
              <a:rPr lang="en-US" sz="1200" dirty="0">
                <a:latin typeface="Menlo" panose="020B0609030804020204" pitchFamily="49" charset="0"/>
              </a:rPr>
              <a:t>"score": 0.083138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AD6C6-CE1A-AED9-1611-BF0EE7895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95718"/>
            <a:ext cx="4064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5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ROC &amp; Precision-Recall: 500-Image Philly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686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011680"/>
            <a:ext cx="27432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ROC AUC = 0.613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Avg Precision = 0.521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Best threshold = 0.455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P=0.59, R=0.66, F1=0.62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Slightly better than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random </a:t>
            </a:r>
            <a:r>
              <a:rPr lang="en-US" dirty="0"/>
              <a:t>--</a:t>
            </a:r>
            <a:r>
              <a:rPr dirty="0"/>
              <a:t> scores are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weakly informative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ROC &amp; Precision-Recall: ALPR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686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D8452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011680"/>
            <a:ext cx="274320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ROC AUC = 0.542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Avg Precision = 0.576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Best threshold = 0.173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  P=0.63, R=0.83, F1=0.72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Nearly random </a:t>
            </a:r>
            <a:r>
              <a:rPr lang="en-US" dirty="0"/>
              <a:t>-- </a:t>
            </a:r>
            <a:r>
              <a:rPr dirty="0"/>
              <a:t>confidence scores ar</a:t>
            </a:r>
            <a:r>
              <a:rPr lang="en-US" dirty="0"/>
              <a:t>e </a:t>
            </a:r>
            <a:r>
              <a:rPr dirty="0"/>
              <a:t>NOT informative for</a:t>
            </a:r>
            <a:r>
              <a:rPr lang="en-US" dirty="0"/>
              <a:t> </a:t>
            </a:r>
            <a:r>
              <a:rPr dirty="0"/>
              <a:t>separating TP from FP</a:t>
            </a:r>
            <a:r>
              <a:rPr lang="en-US" dirty="0"/>
              <a:t> </a:t>
            </a:r>
            <a:r>
              <a:rPr dirty="0"/>
              <a:t>on ALPR locations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Do Our Results Compare to the Paper?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solidFill>
            <a:srgbClr val="4C72B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463040"/>
            <a:ext cx="2560320" cy="548640"/>
          </a:xfrm>
          <a:prstGeom prst="rect">
            <a:avLst/>
          </a:prstGeom>
          <a:solidFill>
            <a:srgbClr val="4C72B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Paper (Sheng et al.)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560320" cy="548640"/>
          </a:xfrm>
          <a:prstGeom prst="rect">
            <a:avLst/>
          </a:prstGeom>
          <a:solidFill>
            <a:srgbClr val="4C72B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Our Philly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463040"/>
            <a:ext cx="2560320" cy="548640"/>
          </a:xfrm>
          <a:prstGeom prst="rect">
            <a:avLst/>
          </a:prstGeom>
          <a:solidFill>
            <a:srgbClr val="4C72B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Our ALPR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0312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0.59 (at t=0.45)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10312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0.63 (at t=0.17)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74320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0.66 (at t=0.45)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74320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0.83 (at t=0.17)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7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ROC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38327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Not reported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8327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0.613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38327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0.542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False positives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402336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Street lamps, bldg structures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Roofs, antennas, lights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402336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Street lights, airplanes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Human verification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66344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Required (3 annotators)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6344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4663440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0351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Threshold 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530351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0.75 (segmentation)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30351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0.45 (detection)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5303519"/>
            <a:ext cx="2560320" cy="548640"/>
          </a:xfrm>
          <a:prstGeom prst="rect">
            <a:avLst/>
          </a:prstGeom>
          <a:solidFill>
            <a:srgbClr val="2222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0.17 (detection)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5883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E86D"/>
                </a:solidFill>
                <a:latin typeface="Calibri"/>
              </a:defRPr>
            </a:pPr>
            <a:r>
              <a:rPr dirty="0"/>
              <a:t>Our precision matches the paper's almost exactly (0.58–0.59). The model behaves consistently — it was always a weak filter requiring human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Is the Model Struggling?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Small training set — Only ~3,155 images with ~1,696 cameras (modern detectors need 10K+)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Limited visual diversity — Trained mostly on San Francisco cameras; Philly infrastructure looks different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No hard negative mining — Never explicitly trained to distinguish cameras from street lights/poles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Paper's own recall was only 0.63 — They acknowledged limitations and compensated with human verification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Different model than paper — Paper used DeepLab V3+ (segmentation); repo updated to Faster R-CNN post-publication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ALPR cameras look different — Pole-mounted license plate readers ≠ dome/directed surveillance cameras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72B0"/>
                </a:solidFill>
                <a:latin typeface="Calibri"/>
              </a:defRPr>
            </a:pPr>
            <a:r>
              <a:t>→  Threshold tuning alone won't fix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/>
              <a:t>ROC AUC of 0.54–0.61 means confidence scores are near-random for separating TP from FP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72B0"/>
                </a:solidFill>
                <a:latin typeface="Calibri"/>
              </a:defRPr>
            </a:pPr>
            <a:r>
              <a:t>→  Our results match the paper's reported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/>
              <a:t>Precision ~0.58 is consistent — this is the model's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72B0"/>
                </a:solidFill>
                <a:latin typeface="Calibri"/>
              </a:defRPr>
            </a:pPr>
            <a:r>
              <a:t>→  The model was designed as a filter, not a standalone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The paper always used human verification; the model was never meant to work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72B0"/>
                </a:solidFill>
                <a:latin typeface="Calibri"/>
              </a:defRPr>
            </a:pPr>
            <a:r>
              <a:t>→  ALPR detection is harder than general surveillance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/>
              <a:t>Only 38% of known ALPR locations detected vs. general cameras — different visual characteristics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Steps: Options for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E86D"/>
                </a:solidFill>
                <a:latin typeface="Calibri"/>
              </a:defRPr>
            </a:pPr>
            <a:r>
              <a:rPr dirty="0"/>
              <a:t>Option A: Run Full Pipeline + Replicate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Run detector on all of Philly at low threshold (~0.2), manually verify positives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Use recall correction (0.63) to estimate camera prevalence — directly comparable to paper's Philadelphia estimate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Use ALPR ground truth as independent validation of the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D44D"/>
                </a:solidFill>
                <a:latin typeface="Calibri"/>
              </a:defRPr>
            </a:pPr>
            <a:r>
              <a:t>Option B: Improve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Fine-tune with hard negatives (street lights, antennas) and ALPR-specific positives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More aggressive data augmentation (rotation, scale, color jitter)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dirty="0"/>
              <a:t>Risk: Time-intensive, requires compute, may not dramatically improve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1199</Words>
  <Application>Microsoft Macintosh PowerPoint</Application>
  <PresentationFormat>Widescreen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Mariya Mushtaq</cp:lastModifiedBy>
  <cp:revision>4</cp:revision>
  <dcterms:created xsi:type="dcterms:W3CDTF">2013-01-27T09:14:16Z</dcterms:created>
  <dcterms:modified xsi:type="dcterms:W3CDTF">2026-03-19T19:07:25Z</dcterms:modified>
  <cp:category/>
</cp:coreProperties>
</file>