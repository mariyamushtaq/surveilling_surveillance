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97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8258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Camera Detection Pipeline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594360"/>
            <a:ext cx="2377440" cy="2743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8600" y="594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Inputs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154680" y="594360"/>
            <a:ext cx="3291840" cy="2743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154680" y="594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040880" y="594360"/>
            <a:ext cx="1874520" cy="2743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040880" y="5943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60020" y="960120"/>
            <a:ext cx="2514600" cy="685800"/>
          </a:xfrm>
          <a:prstGeom prst="rect">
            <a:avLst/>
          </a:prstGeom>
          <a:solidFill>
            <a:srgbClr val="FFFFFF"/>
          </a:solidFill>
          <a:ln w="1524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96012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ALPR Site Coords</a:t>
            </a:r>
            <a:endParaRPr lang="en-US" sz="10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Deflock / OSM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168249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5555"/>
                </a:solidFill>
              </a:rPr>
              <a:t>+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320" y="1901952"/>
            <a:ext cx="2286000" cy="594360"/>
          </a:xfrm>
          <a:prstGeom prst="rect">
            <a:avLst/>
          </a:prstGeom>
          <a:solidFill>
            <a:srgbClr val="FFFFFF"/>
          </a:solidFill>
          <a:ln w="1524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1901952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Citywide Sample Definitions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417320" y="2532888"/>
            <a:ext cx="0" cy="301752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307592" y="2743200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111"/>
                </a:solidFill>
              </a:rPr>
              <a:t>▼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962656"/>
            <a:ext cx="2286000" cy="685800"/>
          </a:xfrm>
          <a:prstGeom prst="rect">
            <a:avLst/>
          </a:prstGeom>
          <a:solidFill>
            <a:srgbClr val="FFFFFF"/>
          </a:solidFill>
          <a:ln w="1524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5760" y="2962656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GSV API</a:t>
            </a:r>
            <a:endParaRPr lang="en-US" sz="10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Imagery + Metadata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0" y="1261872"/>
            <a:ext cx="59436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560320" y="1261872"/>
            <a:ext cx="50292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971800" y="11704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560320" y="3291840"/>
            <a:ext cx="50292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063240" y="2139696"/>
            <a:ext cx="0" cy="1152144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063240" y="2139696"/>
            <a:ext cx="4572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017520" y="20482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0" y="960120"/>
            <a:ext cx="310896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91840" y="960120"/>
            <a:ext cx="2926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Preparation</a:t>
            </a:r>
            <a:endParaRPr lang="en-US" sz="10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point generation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1673352"/>
            <a:ext cx="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645152" y="1581912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111"/>
                </a:solidFill>
              </a:rPr>
              <a:t>▼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0" y="1783080"/>
            <a:ext cx="310896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291840" y="1783080"/>
            <a:ext cx="2926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Acquisition</a:t>
            </a:r>
            <a:endParaRPr lang="en-US" sz="10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GSV panoramas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2496312"/>
            <a:ext cx="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645152" y="2404872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111"/>
                </a:solidFill>
              </a:rPr>
              <a:t>▼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00400" y="2606040"/>
            <a:ext cx="310896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291840" y="2606040"/>
            <a:ext cx="2926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Camera Detection</a:t>
            </a:r>
            <a:endParaRPr lang="en-US" sz="10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R-CNN (Detectron2)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3319272"/>
            <a:ext cx="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645152" y="3227832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111"/>
                </a:solidFill>
              </a:rPr>
              <a:t>▼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00400" y="3429000"/>
            <a:ext cx="310896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3291840" y="3429000"/>
            <a:ext cx="2926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Validation</a:t>
            </a:r>
            <a:endParaRPr lang="en-US" sz="1000" dirty="0"/>
          </a:p>
          <a:p>
            <a:pPr marL="0" indent="0" algn="ctr">
              <a:buNone/>
            </a:pPr>
            <a:endParaRPr lang="en-US" sz="1000" b="1" dirty="0">
              <a:solidFill>
                <a:srgbClr val="11111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4754880" y="4142232"/>
            <a:ext cx="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645152" y="4005072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111"/>
                </a:solidFill>
              </a:rPr>
              <a:t>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218688" y="4206240"/>
            <a:ext cx="310896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222222"/>
            </a:solidFill>
            <a:prstDash val="solid"/>
          </a:ln>
        </p:spPr>
        <p:txBody>
          <a:bodyPr/>
          <a:lstStyle/>
          <a:p>
            <a:pPr algn="ctr"/>
            <a:endParaRPr lang="en-US" sz="1000" b="1" dirty="0">
              <a:solidFill>
                <a:srgbClr val="111111"/>
              </a:solidFill>
              <a:latin typeface="Calibri" pitchFamily="34" charset="0"/>
              <a:cs typeface="Calibri" pitchFamily="34" charset="-120"/>
            </a:endParaRPr>
          </a:p>
          <a:p>
            <a:pPr algn="ctr"/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cs typeface="Calibri" pitchFamily="34" charset="-120"/>
              </a:rPr>
              <a:t>Post Processing </a:t>
            </a:r>
          </a:p>
          <a:p>
            <a:pPr algn="ctr"/>
            <a:r>
              <a:rPr lang="en-US" sz="800" dirty="0">
                <a:solidFill>
                  <a:srgbClr val="555555"/>
                </a:solidFill>
                <a:latin typeface="Calibri" pitchFamily="34" charset="0"/>
                <a:cs typeface="Calibri" pitchFamily="34" charset="-120"/>
              </a:rPr>
              <a:t>NMS + Score Aggregation</a:t>
            </a:r>
          </a:p>
          <a:p>
            <a:pPr algn="ctr"/>
            <a:r>
              <a:rPr lang="en-US" sz="800" dirty="0">
                <a:solidFill>
                  <a:srgbClr val="555555"/>
                </a:solidFill>
                <a:latin typeface="Calibri" pitchFamily="34" charset="0"/>
                <a:cs typeface="Calibri" pitchFamily="34" charset="-120"/>
              </a:rPr>
              <a:t>Threshold </a:t>
            </a:r>
            <a:r>
              <a:rPr lang="en-US" sz="800" dirty="0" err="1">
                <a:solidFill>
                  <a:srgbClr val="555555"/>
                </a:solidFill>
                <a:latin typeface="Calibri" pitchFamily="34" charset="0"/>
                <a:cs typeface="Calibri" pitchFamily="34" charset="-120"/>
              </a:rPr>
              <a:t>τ</a:t>
            </a:r>
            <a:r>
              <a:rPr lang="en-US" sz="800" dirty="0">
                <a:solidFill>
                  <a:srgbClr val="555555"/>
                </a:solidFill>
                <a:latin typeface="Calibri" pitchFamily="34" charset="0"/>
                <a:cs typeface="Calibri" pitchFamily="34" charset="-120"/>
              </a:rPr>
              <a:t> = 0.4 </a:t>
            </a:r>
          </a:p>
        </p:txBody>
      </p:sp>
      <p:sp>
        <p:nvSpPr>
          <p:cNvPr id="43" name="Text 41"/>
          <p:cNvSpPr/>
          <p:nvPr/>
        </p:nvSpPr>
        <p:spPr>
          <a:xfrm>
            <a:off x="3291840" y="4206240"/>
            <a:ext cx="2926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040880" y="2933236"/>
            <a:ext cx="1828800" cy="1005840"/>
          </a:xfrm>
          <a:prstGeom prst="rect">
            <a:avLst/>
          </a:prstGeom>
          <a:solidFill>
            <a:srgbClr val="FFFFFF"/>
          </a:solidFill>
          <a:ln w="1524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178040" y="292608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Detections</a:t>
            </a:r>
            <a:endParaRPr lang="en-US" sz="10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· Bounding Box · Confidence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309360" y="4562856"/>
            <a:ext cx="22860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537960" y="3429000"/>
            <a:ext cx="0" cy="1133856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537960" y="3429000"/>
            <a:ext cx="45720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903720" y="33375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</TotalTime>
  <Words>67</Words>
  <Application>Microsoft Macintosh PowerPoint</Application>
  <PresentationFormat>On-screen Show (16:9)</PresentationFormat>
  <Paragraphs>29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Surveillance Detection Pipeline</dc:title>
  <dc:subject>PptxGenJS Presentation</dc:subject>
  <dc:creator>PptxGenJS</dc:creator>
  <cp:lastModifiedBy>Mariya Mushtaq</cp:lastModifiedBy>
  <cp:revision>3</cp:revision>
  <dcterms:created xsi:type="dcterms:W3CDTF">2026-04-14T17:27:43Z</dcterms:created>
  <dcterms:modified xsi:type="dcterms:W3CDTF">2026-04-16T18:49:45Z</dcterms:modified>
</cp:coreProperties>
</file>